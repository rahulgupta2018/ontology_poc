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82880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12648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42416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72184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901952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31720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61488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191256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621024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050792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480560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910328"/>
            <a:ext cx="8686800" cy="0"/>
          </a:xfrm>
          <a:prstGeom prst="line">
            <a:avLst/>
          </a:prstGeom>
          <a:noFill/>
          <a:ln w="635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A3160"/>
          </a:solidFill>
          <a:ln w="12700">
            <a:solidFill>
              <a:srgbClr val="1C6D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1280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CIO STRATEGIC BRIEFING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664208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Enterprise Architecture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Knowledge Graph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CF0"/>
                </a:solidFill>
              </a:rPr>
              <a:t>Turning scattered architecture knowledge into an intelligent, queryable single source of truth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C"/>
                </a:solidFill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D3E"/>
                </a:solidFill>
              </a:rPr>
              <a:t>Architecture Knowledge Is Scattered, Siloed &amp; Invisible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D3E"/>
                </a:solidFill>
              </a:rPr>
              <a:t>Knowledge in Silos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Decisions live in Confluence, SharePoint, email threads and people's heads — with no connection between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96896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D3E"/>
                </a:solidFill>
              </a:rPr>
              <a:t>Costly Manual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96896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Engineers spend hours hunting for the right ADR or HLD, often rediscovering decisions that were already made.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36592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D3E"/>
                </a:solidFill>
              </a:rPr>
              <a:t>No Traceability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It's impossible to see which systems are affected by a decision, or which teams own what components.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848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481328"/>
            <a:ext cx="2084832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6276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76288" y="22311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D3E"/>
                </a:solidFill>
              </a:rPr>
              <a:t>Institutional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2670048"/>
            <a:ext cx="19019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When architects leave, critical context leaves with them. There is no persistent, queryable record.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Six-Layer Semantic Knowledge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71600"/>
            <a:ext cx="64008" cy="489204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A6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Controlled Vocabulary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463040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71600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CF0"/>
                </a:solidFill>
              </a:rPr>
              <a:t>Canonical terms — reconciles synonyms: 'microservice' = 'micro-service' = 'service'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11096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911096"/>
            <a:ext cx="64008" cy="489204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11096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6DD0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911096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Metadata Standards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2002536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911096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CF0"/>
                </a:solidFill>
              </a:rPr>
              <a:t>Schema-based control over structural, descriptive &amp; administrative metadata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450592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450592"/>
            <a:ext cx="64008" cy="4892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50592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450592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Taxonomy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73552" y="2542032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450592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CF0"/>
                </a:solidFill>
              </a:rPr>
              <a:t>Parent–child hierarchy: Component → Service → Microservice. Enables inheritance queries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2990088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990088"/>
            <a:ext cx="64008" cy="4892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90088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990088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Thesaurus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73552" y="3081528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990088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CF0"/>
                </a:solidFill>
              </a:rPr>
              <a:t>Extends taxonomy — reconciles synonyms across hierarchy. BFF = BackendForFrontend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529584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529584"/>
            <a:ext cx="64008" cy="4892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29584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529584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Ontology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73552" y="3621024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529584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CF0"/>
                </a:solidFill>
              </a:rPr>
              <a:t>Logical reasoning: classes, relations, OWL axioms. Validates and rejects non-conforming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4069080"/>
            <a:ext cx="8449056" cy="489204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4069080"/>
            <a:ext cx="64008" cy="4892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069080"/>
            <a:ext cx="47548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4069080"/>
            <a:ext cx="224028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 Graph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73552" y="4160520"/>
            <a:ext cx="0" cy="306324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4069080"/>
            <a:ext cx="52578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CF0"/>
                </a:solidFill>
              </a:rPr>
              <a:t>All pipeline stages realised in Neo4j — visual, queryable semantic relations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D3E"/>
                </a:solidFill>
              </a:rPr>
              <a:t>From Raw Documents to Intelligent Answers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66344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" y="1389888"/>
            <a:ext cx="1408176" cy="64008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536192"/>
            <a:ext cx="384048" cy="384048"/>
          </a:xfrm>
          <a:prstGeom prst="ellipse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0352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Confluence, SharePoint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Git ADRs, PDFs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11096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67128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67128" y="1389888"/>
            <a:ext cx="1408176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15361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67128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231136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31136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Entities, relations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decisions extracted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67912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67912" y="1389888"/>
            <a:ext cx="1408176" cy="6400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9976" y="1536192"/>
            <a:ext cx="384048" cy="384048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997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67912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931920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Ontology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Rules R1–R10 enforce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schema before write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12664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68696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68696" y="1389888"/>
            <a:ext cx="140817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53619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68696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🕸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32704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Graph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32704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Neo4j — single 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of truth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13448" y="2633472"/>
            <a:ext cx="219456" cy="0"/>
          </a:xfrm>
          <a:prstGeom prst="line">
            <a:avLst/>
          </a:prstGeom>
          <a:noFill/>
          <a:ln w="31750">
            <a:solidFill>
              <a:srgbClr val="1C6D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1389888"/>
            <a:ext cx="140817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69480" y="1389888"/>
            <a:ext cx="140817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81544" y="153619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8154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1993392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333488" y="25968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Natural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D3E"/>
                </a:solidFill>
              </a:rPr>
              <a:t>Q&amp;A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33488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Plain English questions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cited answers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4005072"/>
            <a:ext cx="8449056" cy="658368"/>
          </a:xfrm>
          <a:prstGeom prst="rect">
            <a:avLst/>
          </a:prstGeom>
          <a:solidFill>
            <a:srgbClr val="1A316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40050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1DCF0"/>
                </a:solidFill>
              </a:rPr>
              <a:t>Try it:  </a:t>
            </a:r>
            <a:pPr algn="l" indent="0" marL="0">
              <a:buNone/>
            </a:pPr>
            <a:r>
              <a:rPr lang="en-US" sz="1100" i="1" dirty="0">
                <a:solidFill>
                  <a:srgbClr val="00B4A6"/>
                </a:solidFill>
              </a:rPr>
              <a:t>"Which teams own components that implement the Payments capability, and what ADRs govern them?"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→  Instant cited answer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D3E"/>
          </a:solidFill>
          <a:ln w="12700">
            <a:solidFill>
              <a:srgbClr val="0F1D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ORGANISATIONAL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D3E"/>
                </a:solidFill>
              </a:rPr>
              <a:t>What This Delivers for the Organisation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64008" cy="153619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D3E"/>
                </a:solidFill>
              </a:rPr>
              <a:t>Speed to Answer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3272" y="177393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B4A6"/>
                </a:solidFill>
              </a:rPr>
              <a:t>Hours → Minutes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208483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Architects get instant, sourced answers — no more hunting through Confluence or chasing people on Slack.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371600"/>
            <a:ext cx="64008" cy="1536192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04488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D3E"/>
                </a:solidFill>
              </a:rPr>
              <a:t>Institutional Memory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04488" y="177393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DD0"/>
                </a:solidFill>
              </a:rPr>
              <a:t>Never Lose Context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64992" y="208483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Decisions, patterns and rationale are preserved permanently — independent of who's in the team.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9904" y="137160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371600"/>
            <a:ext cx="64008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463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75704" y="14630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D3E"/>
                </a:solidFill>
              </a:rPr>
              <a:t>Full Traceability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75704" y="177393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End-to-End Visibility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36208" y="208483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Every fact links back to its source. See which ADRs affect which systems, which teams own what.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10896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3108960"/>
            <a:ext cx="64008" cy="1536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33272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D3E"/>
                </a:solidFill>
              </a:rPr>
              <a:t>Governance &amp; Control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3272" y="35112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Schema-Enforced Quality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" y="382219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The ontology validates all knowledge before write. No duplicates, orphaned components or stale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310896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3108960"/>
            <a:ext cx="64008" cy="15361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04488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D3E"/>
                </a:solidFill>
              </a:rPr>
              <a:t>Faster Onboarding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904488" y="35112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Days Not Weeks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382219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New architects get up to speed by querying the graph — not reading hundreds of disconnected docs.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9904" y="3108960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3108960"/>
            <a:ext cx="64008" cy="15361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200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75704" y="32004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D3E"/>
                </a:solidFill>
              </a:rPr>
              <a:t>Cross-Team Alignment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75704" y="3511296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B2777"/>
                </a:solidFill>
              </a:rPr>
              <a:t>One Source of Truth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36208" y="3822192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All divisions see the same authoritative view of systems, decisions and ownership.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 Phases — Foundation to Full Governance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71600"/>
            <a:ext cx="64008" cy="4800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53896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53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9264" y="137160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Foundation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371600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CF0"/>
                </a:solidFill>
              </a:rPr>
              <a:t>Core ontology, Neo4j, NL Q&amp;A CLI, Chat Web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62672" y="1481328"/>
            <a:ext cx="1005840" cy="265176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672" y="148132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901952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901952"/>
            <a:ext cx="64008" cy="4800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984248"/>
            <a:ext cx="320040" cy="3200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1901952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5-Module Ontology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993392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1901952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CF0"/>
                </a:solidFill>
              </a:rPr>
              <a:t>Refactor into ORG / SYS / ART / DEC / GOV modules, apply DB constraints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62672" y="2011680"/>
            <a:ext cx="1005840" cy="265176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11680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 Progress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2432304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432304"/>
            <a:ext cx="64008" cy="480060"/>
          </a:xfrm>
          <a:prstGeom prst="rect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2514600"/>
            <a:ext cx="320040" cy="320040"/>
          </a:xfrm>
          <a:prstGeom prst="ellipse">
            <a:avLst/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" y="2432304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Ingestion Pipeline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91840" y="2523744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2432304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CF0"/>
                </a:solidFill>
              </a:rPr>
              <a:t>PDF / DOCX / Markdown loader, LLM extraction, validation rules R1-R10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62672" y="2542032"/>
            <a:ext cx="1005840" cy="265176"/>
          </a:xfrm>
          <a:prstGeom prst="rect">
            <a:avLst/>
          </a:prstGeom>
          <a:solidFill>
            <a:srgbClr val="1C6DD0">
              <a:alpha val="30000"/>
            </a:srgbClr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2542032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Next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2962656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962656"/>
            <a:ext cx="64008" cy="4800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044952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9264" y="2962656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Source Connectors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3054096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9856" y="2962656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CF0"/>
                </a:solidFill>
              </a:rPr>
              <a:t>Git ADR scanner, Confluence REST API, SharePoint, PDF upload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62672" y="3072384"/>
            <a:ext cx="1005840" cy="265176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62672" y="3072384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7472" y="3493008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3493008"/>
            <a:ext cx="64008" cy="4800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3575304"/>
            <a:ext cx="320040" cy="3200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9264" y="3493008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Semantic Search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91840" y="3584448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19856" y="3493008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CF0"/>
                </a:solidFill>
              </a:rPr>
              <a:t>Embedding + vector index, hybrid Cypher + GraphRAG retrieval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62672" y="3602736"/>
            <a:ext cx="1005840" cy="265176"/>
          </a:xfrm>
          <a:prstGeom prst="rect">
            <a:avLst/>
          </a:prstGeom>
          <a:solidFill>
            <a:srgbClr val="DB2777">
              <a:alpha val="30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62672" y="360273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" y="4023360"/>
            <a:ext cx="8449056" cy="480060"/>
          </a:xfrm>
          <a:prstGeom prst="rect">
            <a:avLst/>
          </a:prstGeom>
          <a:solidFill>
            <a:srgbClr val="1A316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7472" y="4023360"/>
            <a:ext cx="64008" cy="48006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" y="4105656"/>
            <a:ext cx="320040" cy="32004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69264" y="4023360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Governance &amp; Ops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291840" y="4114800"/>
            <a:ext cx="0" cy="29718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9856" y="4023360"/>
            <a:ext cx="4160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CF0"/>
                </a:solidFill>
              </a:rPr>
              <a:t>Change request workflow, audit log, data quality dashboard, RBAC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62672" y="4133088"/>
            <a:ext cx="1005840" cy="265176"/>
          </a:xfrm>
          <a:prstGeom prst="rect">
            <a:avLst/>
          </a:prstGeom>
          <a:solidFill>
            <a:srgbClr val="00B4A6">
              <a:alpha val="30000"/>
            </a:srgbClr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62672" y="4133088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Planned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50976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80744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10512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40280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70048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99816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29584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959352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18888"/>
            <a:ext cx="9144000" cy="0"/>
          </a:xfrm>
          <a:prstGeom prst="line">
            <a:avLst/>
          </a:prstGeom>
          <a:noFill/>
          <a:ln w="6350">
            <a:solidFill>
              <a:srgbClr val="1A2E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502920"/>
            <a:ext cx="8357616" cy="4160520"/>
          </a:xfrm>
          <a:prstGeom prst="rect">
            <a:avLst/>
          </a:prstGeom>
          <a:solidFill>
            <a:srgbClr val="1A3160"/>
          </a:solidFill>
          <a:ln w="12700">
            <a:solidFill>
              <a:srgbClr val="1C6DD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6858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B4A6"/>
                </a:solidFill>
              </a:rPr>
              <a:t>RECOMMENDED NEXT STEPS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10241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Move Forward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713232" y="1682496"/>
            <a:ext cx="7772400" cy="0"/>
          </a:xfrm>
          <a:prstGeom prst="line">
            <a:avLst/>
          </a:prstGeom>
          <a:noFill/>
          <a:ln w="12700">
            <a:solidFill>
              <a:srgbClr val="2A4A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1883664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CF0"/>
                </a:solidFill>
              </a:rPr>
              <a:t>Approve Phase 2 — 5-module ontology implementation (8-10 week effort, small focused team)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2505456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70432" y="24323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CF0"/>
                </a:solidFill>
              </a:rPr>
              <a:t>Confirm API access to Confluence &amp; SharePoint for Phase 4 connector development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3127248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30540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CF0"/>
                </a:solidFill>
              </a:rPr>
              <a:t>Identify Architecture Governance sponsor to own the ontology change review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" y="3749040"/>
            <a:ext cx="347472" cy="347472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70432" y="36758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CF0"/>
                </a:solidFill>
              </a:rPr>
              <a:t>Prioritise the document corpus for first ingestion run — start with ADRs and HLDs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" y="44074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C"/>
                </a:solidFill>
              </a:rPr>
              <a:t>Enterprise Architecture Team  |  architecture-ontology-poc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Architecture Knowledge Graph</dc:title>
  <dc:subject>PptxGenJS Presentation</dc:subject>
  <dc:creator>Architecture Team</dc:creator>
  <cp:lastModifiedBy>Architecture Team</cp:lastModifiedBy>
  <cp:revision>1</cp:revision>
  <dcterms:created xsi:type="dcterms:W3CDTF">2026-05-10T21:52:06Z</dcterms:created>
  <dcterms:modified xsi:type="dcterms:W3CDTF">2026-05-10T21:52:06Z</dcterms:modified>
</cp:coreProperties>
</file>